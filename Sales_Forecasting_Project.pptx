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78" d="100"/>
          <a:sy n="78" d="100"/>
        </p:scale>
        <p:origin x="19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278430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-2011680"/>
            <a:ext cx="5486400" cy="5486400"/>
          </a:xfrm>
          <a:prstGeom prst="ellipse">
            <a:avLst/>
          </a:prstGeom>
          <a:solidFill>
            <a:srgbClr val="263080"/>
          </a:solidFill>
          <a:ln/>
        </p:spPr>
      </p:sp>
      <p:sp>
        <p:nvSpPr>
          <p:cNvPr id="4" name="Shape 2"/>
          <p:cNvSpPr/>
          <p:nvPr/>
        </p:nvSpPr>
        <p:spPr>
          <a:xfrm>
            <a:off x="10241280" y="4206240"/>
            <a:ext cx="3657600" cy="3657600"/>
          </a:xfrm>
          <a:prstGeom prst="ellipse">
            <a:avLst/>
          </a:prstGeom>
          <a:solidFill>
            <a:srgbClr val="263080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331720"/>
            <a:ext cx="9601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 FORECASTING PROJECT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333756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Future Retail Sales with Machine Learning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68680" y="3977640"/>
            <a:ext cx="2011680" cy="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1605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FB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Time-Series Analysis  ·  Feature Engineering  ·  Regression Modeling  ·  30-Day Forecast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6035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C8A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Project Report</a:t>
            </a:r>
            <a:endParaRPr lang="en-US" sz="1200" dirty="0"/>
          </a:p>
        </p:txBody>
      </p:sp>
      <p:sp>
        <p:nvSpPr>
          <p:cNvPr id="11" name="Text 4">
            <a:extLst>
              <a:ext uri="{FF2B5EF4-FFF2-40B4-BE49-F238E27FC236}">
                <a16:creationId xmlns:a16="http://schemas.microsoft.com/office/drawing/2014/main" id="{7EB1B292-08CD-5DB8-3443-0BEBD4602AD3}"/>
              </a:ext>
            </a:extLst>
          </p:cNvPr>
          <p:cNvSpPr/>
          <p:nvPr/>
        </p:nvSpPr>
        <p:spPr>
          <a:xfrm>
            <a:off x="777240" y="5042263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– ABDUL MAAZID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historical store transactions into an actionable 30-day sales forecast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49240" cy="2148840"/>
          </a:xfrm>
          <a:prstGeom prst="roundRect">
            <a:avLst>
              <a:gd name="adj" fmla="val 3404"/>
            </a:avLst>
          </a:prstGeom>
          <a:solidFill>
            <a:srgbClr val="F4F6FC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7830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783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17320" y="1755648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2331720"/>
            <a:ext cx="47091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31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daily store sales using historical transaction data to support inventory and revenue planning.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72200" y="1554480"/>
            <a:ext cx="5349240" cy="2148840"/>
          </a:xfrm>
          <a:prstGeom prst="roundRect">
            <a:avLst>
              <a:gd name="adj" fmla="val 3404"/>
            </a:avLst>
          </a:prstGeom>
          <a:solidFill>
            <a:srgbClr val="F4F6FC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0" y="17830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0" y="1783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040880" y="1755648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Source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92240" y="2331720"/>
            <a:ext cx="47091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31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sales transactions (2,121 records, 21 fields) spanning 2014-2017, covering orders, products, and regions.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977640"/>
            <a:ext cx="5349240" cy="2148840"/>
          </a:xfrm>
          <a:prstGeom prst="roundRect">
            <a:avLst>
              <a:gd name="adj" fmla="val 3404"/>
            </a:avLst>
          </a:prstGeom>
          <a:solidFill>
            <a:srgbClr val="F4F6FC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77240" y="42062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4206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17320" y="4178808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Approach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68680" y="4754880"/>
            <a:ext cx="47091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31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to daily sales, engineer calendar and lag features, then train and compare three regression models.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72200" y="3977640"/>
            <a:ext cx="5349240" cy="2148840"/>
          </a:xfrm>
          <a:prstGeom prst="roundRect">
            <a:avLst>
              <a:gd name="adj" fmla="val 3404"/>
            </a:avLst>
          </a:prstGeom>
          <a:solidFill>
            <a:srgbClr val="F4F6FC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00800" y="42062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0" y="4206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040880" y="4178808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Outcome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492240" y="4754880"/>
            <a:ext cx="47091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31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Random Forest model producing a 30-day forward sales forecast, ranked feature drivers, and model benchmarks.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Forecasting Project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Overview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2514600" cy="1234440"/>
          </a:xfrm>
          <a:prstGeom prst="roundRect">
            <a:avLst>
              <a:gd name="adj" fmla="val 5926"/>
            </a:avLst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252728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2,121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Records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91840" y="1143000"/>
            <a:ext cx="2514600" cy="1234440"/>
          </a:xfrm>
          <a:prstGeom prst="roundRect">
            <a:avLst>
              <a:gd name="adj" fmla="val 5926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3291840" y="1252728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291840" y="192024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Fields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035040" y="1143000"/>
            <a:ext cx="2514600" cy="1234440"/>
          </a:xfrm>
          <a:prstGeom prst="roundRect">
            <a:avLst>
              <a:gd name="adj" fmla="val 5926"/>
            </a:avLst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6035040" y="1252728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yrs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6035040" y="192024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2014 – 2017 Coverage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778240" y="1143000"/>
            <a:ext cx="2514600" cy="1234440"/>
          </a:xfrm>
          <a:prstGeom prst="roundRect">
            <a:avLst>
              <a:gd name="adj" fmla="val 5926"/>
            </a:avLst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8778240" y="1252728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8778240" y="192024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2697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Fields Used</a:t>
            </a:r>
            <a:endParaRPr lang="en-US" sz="16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108960"/>
          <a:ext cx="5394960" cy="1828800"/>
        </p:xfrm>
        <a:graphic>
          <a:graphicData uri="http://schemas.openxmlformats.org/drawingml/2006/table">
            <a:tbl>
              <a:tblPr/>
              <a:tblGrid>
                <a:gridCol w="5394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317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 Date  –  transaction date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91440" marB="9144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317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Sales  –  daily revenue (target variable)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91440" marB="9144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317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Region / Category / Sub-Category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91440" marB="9144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317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Customer, Product &amp; Ship Mode fields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91440" marB="9144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7" name="Text 14"/>
          <p:cNvSpPr/>
          <p:nvPr/>
        </p:nvSpPr>
        <p:spPr>
          <a:xfrm>
            <a:off x="6263640" y="2697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 Distribution</a:t>
            </a:r>
            <a:endParaRPr lang="en-US" sz="1600" dirty="0"/>
          </a:p>
        </p:txBody>
      </p:sp>
      <p:graphicFrame>
        <p:nvGraphicFramePr>
          <p:cNvPr id="18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3640" y="3108960"/>
          <a:ext cx="5349240" cy="1920240"/>
        </p:xfrm>
        <a:graphic>
          <a:graphicData uri="http://schemas.openxmlformats.org/drawingml/2006/table">
            <a:tbl>
              <a:tblPr/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1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317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317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317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Sales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317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$349.83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317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Median Sales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317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$182.22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317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Std. Deviation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317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$503.18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317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 / Max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317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$1.89 / $4,416.17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9" name="Text 1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Forecasting Project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Preparation &amp; Cleaning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transactions to a clean, continuous daily time series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002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97280" y="1581912"/>
            <a:ext cx="9601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31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and confirmed zero missing values across all 21 fields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14884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1488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97280" y="2130552"/>
            <a:ext cx="9601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31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duplicate transaction rows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269748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6974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97280" y="2679192"/>
            <a:ext cx="9601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31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Converted Order Date to a proper datetime type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2461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97280" y="3227832"/>
            <a:ext cx="9601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31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Sorted all records chronologically by Order Date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379476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7947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97280" y="3776472"/>
            <a:ext cx="9601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31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Aggregated transactions into total daily sales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434340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43434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97280" y="4325112"/>
            <a:ext cx="9601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31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Reindexed to a continuous daily calendar, filling gap-days with 0 sales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Forecasting Project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Daily Sales Trend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daily sales are highly volatile — motivating monthly aggregation and lag features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11064240" cy="5074920"/>
          </a:xfrm>
          <a:prstGeom prst="roundRect">
            <a:avLst>
              <a:gd name="adj" fmla="val 1081"/>
            </a:avLst>
          </a:prstGeom>
          <a:solidFill>
            <a:srgbClr val="F4F6FC"/>
          </a:solidFill>
          <a:ln w="12700">
            <a:solidFill>
              <a:srgbClr val="DCE3F5"/>
            </a:solidFill>
            <a:prstDash val="solid"/>
          </a:ln>
        </p:spPr>
      </p:sp>
      <p:pic>
        <p:nvPicPr>
          <p:cNvPr id="5" name="Image 0" descr="cell2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554480"/>
            <a:ext cx="10424160" cy="4572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Forecasting Project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Monthly Sales Trend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Aggregating to monthly totals reveals a clearer growth pattern with seasonal peaks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11064240" cy="5074920"/>
          </a:xfrm>
          <a:prstGeom prst="roundRect">
            <a:avLst>
              <a:gd name="adj" fmla="val 1081"/>
            </a:avLst>
          </a:prstGeom>
          <a:solidFill>
            <a:srgbClr val="F4F6FC"/>
          </a:solidFill>
          <a:ln w="12700">
            <a:solidFill>
              <a:srgbClr val="DCE3F5"/>
            </a:solidFill>
            <a:prstDash val="solid"/>
          </a:ln>
        </p:spPr>
      </p:sp>
      <p:pic>
        <p:nvPicPr>
          <p:cNvPr id="5" name="Image 0" descr="cell2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554480"/>
            <a:ext cx="10424160" cy="4572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Forecasting Project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Engineering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feature families give the models both calendar context and recent momentum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49240" cy="4480560"/>
          </a:xfrm>
          <a:prstGeom prst="roundRect">
            <a:avLst>
              <a:gd name="adj" fmla="val 1633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828800"/>
            <a:ext cx="4709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Calendar Features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68680" y="2423160"/>
            <a:ext cx="109728" cy="10972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2295144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68680" y="2926080"/>
            <a:ext cx="109728" cy="10972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9" name="Text 7"/>
          <p:cNvSpPr/>
          <p:nvPr/>
        </p:nvSpPr>
        <p:spPr>
          <a:xfrm>
            <a:off x="1143000" y="2798064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68680" y="3429000"/>
            <a:ext cx="109728" cy="10972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1" name="Text 9"/>
          <p:cNvSpPr/>
          <p:nvPr/>
        </p:nvSpPr>
        <p:spPr>
          <a:xfrm>
            <a:off x="1143000" y="3300984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68680" y="3931920"/>
            <a:ext cx="109728" cy="10972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3" name="Text 11"/>
          <p:cNvSpPr/>
          <p:nvPr/>
        </p:nvSpPr>
        <p:spPr>
          <a:xfrm>
            <a:off x="1143000" y="3803904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of Week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68680" y="4434840"/>
            <a:ext cx="109728" cy="10972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5" name="Text 13"/>
          <p:cNvSpPr/>
          <p:nvPr/>
        </p:nvSpPr>
        <p:spPr>
          <a:xfrm>
            <a:off x="1143000" y="4306824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68680" y="5074920"/>
            <a:ext cx="4709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recurring calendar-driven patterns such as weekday effects, month-end spikes, and quarterly cycles.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72200" y="1554480"/>
            <a:ext cx="5349240" cy="4480560"/>
          </a:xfrm>
          <a:prstGeom prst="roundRect">
            <a:avLst>
              <a:gd name="adj" fmla="val 1633"/>
            </a:avLst>
          </a:prstGeom>
          <a:solidFill>
            <a:srgbClr val="F4F6FC"/>
          </a:solidFill>
          <a:ln w="12700">
            <a:solidFill>
              <a:srgbClr val="DCE3F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92240" y="1828800"/>
            <a:ext cx="4709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Lag Features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492240" y="2423160"/>
            <a:ext cx="109728" cy="1097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6766560" y="2295144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31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 Day Sales  (t-1)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492240" y="2926080"/>
            <a:ext cx="109728" cy="1097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6766560" y="2798064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31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7 Days Ago  (t-7)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492240" y="3429000"/>
            <a:ext cx="109728" cy="1097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4" name="Text 22"/>
          <p:cNvSpPr/>
          <p:nvPr/>
        </p:nvSpPr>
        <p:spPr>
          <a:xfrm>
            <a:off x="6766560" y="3300984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31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30 Days Ago  (t-30)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492240" y="4069080"/>
            <a:ext cx="4709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 the model short, weekly, and monthly memory of recent sales momentum. Rows with incomplete lag history were dropped.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Forecasting Project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Training &amp; Comparison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80/20 chronological train-test split across three regression models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914400"/>
        </p:xfrm>
        <a:graphic>
          <a:graphicData uri="http://schemas.openxmlformats.org/drawingml/2006/table">
            <a:tbl>
              <a:tblPr/>
              <a:tblGrid>
                <a:gridCol w="4754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 Score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317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 Regression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317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638.96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317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938.65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317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317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Tree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317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714.77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317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1,123.43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B23A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-0.348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  ★ Best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317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617.59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317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928.08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7D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0.080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397764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delivers the lowest error and the only positive R², making it the model used for the 30-day forecast. All three models show high error relative to typical daily sales, reflecting significant day-to-day volatility in the raw data.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48640" y="498348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F4F6FC"/>
          </a:solidFill>
          <a:ln/>
        </p:spPr>
      </p:sp>
      <p:sp>
        <p:nvSpPr>
          <p:cNvPr id="7" name="Text 4"/>
          <p:cNvSpPr/>
          <p:nvPr/>
        </p:nvSpPr>
        <p:spPr>
          <a:xfrm>
            <a:off x="822960" y="5120640"/>
            <a:ext cx="10515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r>
              <a:rPr lang="en-US" sz="1250" dirty="0">
                <a:solidFill>
                  <a:srgbClr val="131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Average absolute prediction error, in sales dollars.   </a:t>
            </a: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r>
              <a:rPr lang="en-US" sz="1250" dirty="0">
                <a:solidFill>
                  <a:srgbClr val="131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Penalizes large errors more heavily.   </a:t>
            </a: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</a:t>
            </a:r>
            <a:r>
              <a:rPr lang="en-US" sz="1250" dirty="0">
                <a:solidFill>
                  <a:srgbClr val="131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Share of sales variance explained by the model.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Forecasting Project</a:t>
            </a:r>
            <a:endParaRPr lang="en-US" sz="900" dirty="0"/>
          </a:p>
        </p:txBody>
      </p:sp>
      <p:sp>
        <p:nvSpPr>
          <p:cNvPr id="4" name="Text 6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Performance &amp; Feature Drivers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vs Predicted Sales (Random Forest)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5760720" cy="4206240"/>
          </a:xfrm>
          <a:prstGeom prst="roundRect">
            <a:avLst>
              <a:gd name="adj" fmla="val 1304"/>
            </a:avLst>
          </a:prstGeom>
          <a:solidFill>
            <a:srgbClr val="F4F6FC"/>
          </a:solidFill>
          <a:ln w="12700">
            <a:solidFill>
              <a:srgbClr val="DCE3F5"/>
            </a:solidFill>
            <a:prstDash val="solid"/>
          </a:ln>
        </p:spPr>
      </p:sp>
      <p:pic>
        <p:nvPicPr>
          <p:cNvPr id="5" name="Image 0" descr="cell5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463040"/>
            <a:ext cx="5394960" cy="3840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92240" y="91440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 (Random Forest)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492240" y="1280160"/>
            <a:ext cx="5120640" cy="4206240"/>
          </a:xfrm>
          <a:prstGeom prst="roundRect">
            <a:avLst>
              <a:gd name="adj" fmla="val 1304"/>
            </a:avLst>
          </a:prstGeom>
          <a:solidFill>
            <a:srgbClr val="F4F6FC"/>
          </a:solidFill>
          <a:ln w="12700">
            <a:solidFill>
              <a:srgbClr val="DCE3F5"/>
            </a:solidFill>
            <a:prstDash val="solid"/>
          </a:ln>
        </p:spPr>
      </p:sp>
      <p:pic>
        <p:nvPicPr>
          <p:cNvPr id="8" name="Image 1" descr="cell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0" y="1463040"/>
            <a:ext cx="4572000" cy="38404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48640" y="56235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from 7 days ago is the single strongest predictor, followed by day-of-month and previous-day sales — confirming that recent momentum drives near-term forecasts more than long-range calendar position.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Forecasting Project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30-Day Sales Forecast &amp; Conclusion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6949440" cy="5029200"/>
          </a:xfrm>
          <a:prstGeom prst="roundRect">
            <a:avLst>
              <a:gd name="adj" fmla="val 1091"/>
            </a:avLst>
          </a:prstGeom>
          <a:solidFill>
            <a:srgbClr val="FFFFFF"/>
          </a:solidFill>
          <a:ln/>
        </p:spPr>
      </p:sp>
      <p:pic>
        <p:nvPicPr>
          <p:cNvPr id="4" name="Image 0" descr="cell6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188720"/>
            <a:ext cx="6492240" cy="46634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00" y="10515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7772400" y="1563624"/>
            <a:ext cx="91440" cy="9144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7" name="Text 4"/>
          <p:cNvSpPr/>
          <p:nvPr/>
        </p:nvSpPr>
        <p:spPr>
          <a:xfrm>
            <a:off x="8001000" y="1435608"/>
            <a:ext cx="37033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projects daily sales between roughly $150 and $1,375 over the next 30 days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7772400" y="2615184"/>
            <a:ext cx="91440" cy="9144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9" name="Text 6"/>
          <p:cNvSpPr/>
          <p:nvPr/>
        </p:nvSpPr>
        <p:spPr>
          <a:xfrm>
            <a:off x="8001000" y="2487168"/>
            <a:ext cx="37033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Recent-sales lag features (7-day, previous-day) are the dominant forecast drivers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7772400" y="3666744"/>
            <a:ext cx="91440" cy="9144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1" name="Text 8"/>
          <p:cNvSpPr/>
          <p:nvPr/>
        </p:nvSpPr>
        <p:spPr>
          <a:xfrm>
            <a:off x="8001000" y="3538728"/>
            <a:ext cx="37033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accuracy is limited by high day-to-day volatility — low R² across all models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7772400" y="4718304"/>
            <a:ext cx="91440" cy="9144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3" name="Text 10"/>
          <p:cNvSpPr/>
          <p:nvPr/>
        </p:nvSpPr>
        <p:spPr>
          <a:xfrm>
            <a:off x="8001000" y="4590288"/>
            <a:ext cx="37033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next steps: add promotional/holiday indicators, try gradient boosting, and forecast at weekly granularity to reduce noise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Forecasting Project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652</Words>
  <Application>Microsoft Office PowerPoint</Application>
  <PresentationFormat>Widescreen</PresentationFormat>
  <Paragraphs>134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ABDUL MAAZID</cp:lastModifiedBy>
  <cp:revision>2</cp:revision>
  <dcterms:created xsi:type="dcterms:W3CDTF">2026-07-20T19:21:51Z</dcterms:created>
  <dcterms:modified xsi:type="dcterms:W3CDTF">2026-07-20T19:42:01Z</dcterms:modified>
</cp:coreProperties>
</file>